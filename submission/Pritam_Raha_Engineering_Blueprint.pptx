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4360"/>
            <a:ext cx="1828800" cy="310896"/>
          </a:xfrm>
          <a:prstGeom prst="roundRect">
            <a:avLst/>
          </a:prstGeom>
          <a:solidFill>
            <a:srgbClr val="23C9B8"/>
          </a:solidFill>
          <a:ln>
            <a:solidFill>
              <a:srgbClr val="23C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828"/>
                </a:solidFill>
                <a:latin typeface="Aptos"/>
              </a:rPr>
              <a:t>HIRING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42416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Secure Student Onboarding
Deployment &amp; Automation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834640"/>
            <a:ext cx="9601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AEBDCC"/>
                </a:solidFill>
                <a:latin typeface="Aptos"/>
              </a:rPr>
              <a:t>Google Cloud infrastructure  •  Fail-closed build gate  •  Deterministic data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3931920"/>
            <a:ext cx="2788920" cy="105156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87368"/>
            <a:ext cx="5669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3C9B8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43984"/>
            <a:ext cx="2331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Secure by default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67912" y="3931920"/>
            <a:ext cx="2788920" cy="105156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80" y="4087368"/>
            <a:ext cx="5669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3C9B8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4443984"/>
            <a:ext cx="2331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Schema aligned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22592" y="3931920"/>
            <a:ext cx="2788920" cy="105156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4087368"/>
            <a:ext cx="5669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3C9B8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443984"/>
            <a:ext cx="2331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Objectively testable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806440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Pritam Raha  •  rahapritam32@gmail.com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172200"/>
            <a:ext cx="6400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EBDCC"/>
                </a:solidFill>
                <a:latin typeface="Aptos"/>
              </a:rPr>
              <a:t>Submission: 3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C9B8"/>
                </a:solidFill>
                <a:latin typeface="Aptos"/>
              </a:rPr>
              <a:t>PROBLEM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Incident converted into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29184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EBDCC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EBDCC"/>
                </a:solidFill>
                <a:latin typeface="Aptos"/>
              </a:rPr>
              <a:t>PRITAM RAHA  •  rahapritam32@gmail.com  •  JUNIOR CLOUD AND DEVOPS ENGINEER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89888"/>
            <a:ext cx="3520440" cy="452628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54480"/>
            <a:ext cx="30083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Observed 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011680"/>
            <a:ext cx="3008376" cy="373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A raw application credential reached source control.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A transactional schema change broke downstream analytics.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Human memory was the only effective release gate.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89888"/>
            <a:ext cx="54864" cy="4526280"/>
          </a:xfrm>
          <a:prstGeom prst="rect">
            <a:avLst/>
          </a:prstGeom>
          <a:solidFill>
            <a:srgbClr val="EF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0440" cy="452628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1144" y="1554480"/>
            <a:ext cx="30083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Engineering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2011680"/>
            <a:ext cx="3008376" cy="373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Remove key files: use narrow workload identities.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Close every schema and validate it at three boundaries.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Make a failed gate structurally unable to authorise release.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1389888"/>
            <a:ext cx="54864" cy="452628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55864" y="1389888"/>
            <a:ext cx="3520440" cy="452628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1554480"/>
            <a:ext cx="30083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Measurable 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011680"/>
            <a:ext cx="3008376" cy="373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Zero hardcoded credential findings.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Twenty-seven fields agree across transport and warehouse.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Forty-one infrastructure policy checks pass with zero failures.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5864" y="1389888"/>
            <a:ext cx="54864" cy="4526280"/>
          </a:xfrm>
          <a:prstGeom prst="rect">
            <a:avLst/>
          </a:prstGeom>
          <a:solidFill>
            <a:srgbClr val="23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C9B8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End-to-end governed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29184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EBDCC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EBDCC"/>
                </a:solidFill>
                <a:latin typeface="Aptos"/>
              </a:rPr>
              <a:t>PRITAM RAHA  •  rahapritam32@gmail.com  •  JUNIOR CLOUD AND DEVOPS ENGINEER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93392"/>
            <a:ext cx="1874519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2376" y="2157984"/>
            <a:ext cx="411480" cy="310896"/>
          </a:xfrm>
          <a:prstGeom prst="roundRect">
            <a:avLst/>
          </a:prstGeom>
          <a:solidFill>
            <a:srgbClr val="23C9B8"/>
          </a:solidFill>
          <a:ln>
            <a:solidFill>
              <a:srgbClr val="23C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828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651760"/>
            <a:ext cx="157276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72533"/>
                </a:solidFill>
                <a:latin typeface="Aptos"/>
              </a:rPr>
              <a:t>Closed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227832"/>
            <a:ext cx="15727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56778"/>
                </a:solidFill>
                <a:latin typeface="Aptos"/>
              </a:rPr>
              <a:t>Django REST
Framework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41448" y="3154680"/>
            <a:ext cx="402336" cy="0"/>
          </a:xfrm>
          <a:prstGeom prst="line">
            <a:avLst/>
          </a:prstGeom>
          <a:ln w="25400">
            <a:solidFill>
              <a:srgbClr val="23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71216" y="1993392"/>
            <a:ext cx="1874519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26664" y="2157984"/>
            <a:ext cx="411480" cy="310896"/>
          </a:xfrm>
          <a:prstGeom prst="roundRect">
            <a:avLst/>
          </a:prstGeom>
          <a:solidFill>
            <a:srgbClr val="23C9B8"/>
          </a:solidFill>
          <a:ln>
            <a:solidFill>
              <a:srgbClr val="23C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828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6664" y="2651760"/>
            <a:ext cx="157276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72533"/>
                </a:solidFill>
                <a:latin typeface="Aptos"/>
              </a:rPr>
              <a:t>Binary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4" y="3227832"/>
            <a:ext cx="15727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56778"/>
                </a:solidFill>
                <a:latin typeface="Aptos"/>
              </a:rPr>
              <a:t>Six Yes or No
checks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45736" y="3154680"/>
            <a:ext cx="402336" cy="0"/>
          </a:xfrm>
          <a:prstGeom prst="line">
            <a:avLst/>
          </a:prstGeom>
          <a:ln w="25400">
            <a:solidFill>
              <a:srgbClr val="23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75504" y="1993392"/>
            <a:ext cx="1874519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30952" y="2157984"/>
            <a:ext cx="411480" cy="310896"/>
          </a:xfrm>
          <a:prstGeom prst="roundRect">
            <a:avLst/>
          </a:prstGeom>
          <a:solidFill>
            <a:srgbClr val="23C9B8"/>
          </a:solidFill>
          <a:ln>
            <a:solidFill>
              <a:srgbClr val="23C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828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2651760"/>
            <a:ext cx="157276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72533"/>
                </a:solidFill>
                <a:latin typeface="Aptos"/>
              </a:rPr>
              <a:t>D0 landing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2" y="3227832"/>
            <a:ext cx="15727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56778"/>
                </a:solidFill>
                <a:latin typeface="Aptos"/>
              </a:rPr>
              <a:t>Immutable and
encrypted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50024" y="3154680"/>
            <a:ext cx="402336" cy="0"/>
          </a:xfrm>
          <a:prstGeom prst="line">
            <a:avLst/>
          </a:prstGeom>
          <a:ln w="25400">
            <a:solidFill>
              <a:srgbClr val="23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79792" y="1993392"/>
            <a:ext cx="1874519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35240" y="2157984"/>
            <a:ext cx="411480" cy="310896"/>
          </a:xfrm>
          <a:prstGeom prst="roundRect">
            <a:avLst/>
          </a:prstGeom>
          <a:solidFill>
            <a:srgbClr val="23C9B8"/>
          </a:solidFill>
          <a:ln>
            <a:solidFill>
              <a:srgbClr val="23C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828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651760"/>
            <a:ext cx="157276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72533"/>
                </a:solidFill>
                <a:latin typeface="Aptos"/>
              </a:rPr>
              <a:t>Schema event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227832"/>
            <a:ext cx="15727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56778"/>
                </a:solidFill>
                <a:latin typeface="Aptos"/>
              </a:rPr>
              <a:t>Pub/Sub
Apache Avro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54312" y="3154680"/>
            <a:ext cx="402336" cy="0"/>
          </a:xfrm>
          <a:prstGeom prst="line">
            <a:avLst/>
          </a:prstGeom>
          <a:ln w="25400">
            <a:solidFill>
              <a:srgbClr val="23C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784080" y="1993392"/>
            <a:ext cx="1874519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939528" y="2157984"/>
            <a:ext cx="411480" cy="310896"/>
          </a:xfrm>
          <a:prstGeom prst="roundRect">
            <a:avLst/>
          </a:prstGeom>
          <a:solidFill>
            <a:srgbClr val="23C9B8"/>
          </a:solidFill>
          <a:ln>
            <a:solidFill>
              <a:srgbClr val="23C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828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39528" y="2651760"/>
            <a:ext cx="157276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72533"/>
                </a:solidFill>
                <a:latin typeface="Aptos"/>
              </a:rPr>
              <a:t>D1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9528" y="3227832"/>
            <a:ext cx="15727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56778"/>
                </a:solidFill>
                <a:latin typeface="Aptos"/>
              </a:rPr>
              <a:t>BigQuery and
row filtering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" y="4892040"/>
            <a:ext cx="10287000" cy="64008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5020056"/>
            <a:ext cx="9921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Cloud Key Management Service encrypts storage, messaging and analytics  •  Every output retains source lineage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C9B8"/>
                </a:solidFill>
                <a:latin typeface="Aptos"/>
              </a:rPr>
              <a:t>TERRAFORM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D0 raw landing: create, never mutate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29184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EBDCC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EBDCC"/>
                </a:solidFill>
                <a:latin typeface="Aptos"/>
              </a:rPr>
              <a:t>PRITAM RAHA  •  rahapritam32@gmail.com  •  JUNIOR CLOUD AND DEVOPS ENGINEER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17320"/>
            <a:ext cx="3493008" cy="169164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581912"/>
            <a:ext cx="914400" cy="310896"/>
          </a:xfrm>
          <a:prstGeom prst="roundRect">
            <a:avLst/>
          </a:prstGeom>
          <a:solidFill>
            <a:srgbClr val="3D88FF"/>
          </a:solidFill>
          <a:ln>
            <a:solidFill>
              <a:srgbClr val="3D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PUBLIC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Blocked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3063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EBDCC"/>
                </a:solidFill>
                <a:latin typeface="Aptos"/>
              </a:rPr>
              <a:t>Public access prevention is enforced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3983" y="1417320"/>
            <a:ext cx="3493008" cy="169164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45151" y="1581912"/>
            <a:ext cx="914400" cy="310896"/>
          </a:xfrm>
          <a:prstGeom prst="roundRect">
            <a:avLst/>
          </a:prstGeom>
          <a:solidFill>
            <a:srgbClr val="3D88FF"/>
          </a:solidFill>
          <a:ln>
            <a:solidFill>
              <a:srgbClr val="3D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WRITE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1" y="2011680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Prefix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1" y="2423160"/>
            <a:ext cx="3063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EBDCC"/>
                </a:solidFill>
                <a:latin typeface="Aptos"/>
              </a:rPr>
              <a:t>Object creation is conditioned to incoming/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66175" y="1417320"/>
            <a:ext cx="3493008" cy="169164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67344" y="1581912"/>
            <a:ext cx="914400" cy="310896"/>
          </a:xfrm>
          <a:prstGeom prst="roundRect">
            <a:avLst/>
          </a:prstGeom>
          <a:solidFill>
            <a:srgbClr val="3D88FF"/>
          </a:solidFill>
          <a:ln>
            <a:solidFill>
              <a:srgbClr val="3D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ENCRYPT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344" y="2011680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Customer key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2423160"/>
            <a:ext cx="3063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EBDCC"/>
                </a:solidFill>
                <a:latin typeface="Aptos"/>
              </a:rPr>
              <a:t>Dedicated key rotates every 90 days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538728"/>
            <a:ext cx="3493008" cy="169164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3703320"/>
            <a:ext cx="914400" cy="310896"/>
          </a:xfrm>
          <a:prstGeom prst="roundRect">
            <a:avLst/>
          </a:prstGeom>
          <a:solidFill>
            <a:srgbClr val="3D88FF"/>
          </a:solidFill>
          <a:ln>
            <a:solidFill>
              <a:srgbClr val="3D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13308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Layered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44568"/>
            <a:ext cx="3063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EBDCC"/>
                </a:solidFill>
                <a:latin typeface="Aptos"/>
              </a:rPr>
              <a:t>Versions + retention + soft deletion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3" y="3538728"/>
            <a:ext cx="3493008" cy="169164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45151" y="3703320"/>
            <a:ext cx="914400" cy="310896"/>
          </a:xfrm>
          <a:prstGeom prst="roundRect">
            <a:avLst/>
          </a:prstGeom>
          <a:solidFill>
            <a:srgbClr val="3D88FF"/>
          </a:solidFill>
          <a:ln>
            <a:solidFill>
              <a:srgbClr val="3D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1" y="413308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Recorded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1" y="4544568"/>
            <a:ext cx="3063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EBDCC"/>
                </a:solidFill>
                <a:latin typeface="Aptos"/>
              </a:rPr>
              <a:t>Access logs use a separate protected bucket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66175" y="3538728"/>
            <a:ext cx="3493008" cy="169164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67344" y="3703320"/>
            <a:ext cx="914400" cy="310896"/>
          </a:xfrm>
          <a:prstGeom prst="roundRect">
            <a:avLst/>
          </a:prstGeom>
          <a:solidFill>
            <a:srgbClr val="3D88FF"/>
          </a:solidFill>
          <a:ln>
            <a:solidFill>
              <a:srgbClr val="3D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DELETE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7344" y="4133088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Denied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67344" y="4544568"/>
            <a:ext cx="3063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EBDCC"/>
                </a:solidFill>
                <a:latin typeface="Aptos"/>
              </a:rPr>
              <a:t>force_destroy is false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C9B8"/>
                </a:solidFill>
                <a:latin typeface="Aptos"/>
              </a:rPr>
              <a:t>IDENTITY AND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Least privilege is explicit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29184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EBDCC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EBDCC"/>
                </a:solidFill>
                <a:latin typeface="Aptos"/>
              </a:rPr>
              <a:t>PRITAM RAHA  •  rahapritam32@gmail.com  •  JUNIOR CLOUD AND DEVOPS ENGINEER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27080" cy="841248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63624"/>
            <a:ext cx="2103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Raw ingestor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1563624"/>
            <a:ext cx="3383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3C9B8"/>
                </a:solidFill>
                <a:latin typeface="Aptos"/>
              </a:rPr>
              <a:t>Create incoming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1563624"/>
            <a:ext cx="4526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EBDCC"/>
                </a:solidFill>
                <a:latin typeface="Aptos"/>
              </a:rPr>
              <a:t>No read • no list • no delete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32888"/>
            <a:ext cx="10927080" cy="841248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679192"/>
            <a:ext cx="2103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Data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679192"/>
            <a:ext cx="3383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3C9B8"/>
                </a:solidFill>
                <a:latin typeface="Aptos"/>
              </a:rPr>
              <a:t>Read raw + maintain D1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679192"/>
            <a:ext cx="4526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EBDCC"/>
                </a:solidFill>
                <a:latin typeface="Aptos"/>
              </a:rPr>
              <a:t>No identity or key administration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48456"/>
            <a:ext cx="10927080" cy="841248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794760"/>
            <a:ext cx="2103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Messaging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794760"/>
            <a:ext cx="3383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3C9B8"/>
                </a:solidFill>
                <a:latin typeface="Aptos"/>
              </a:rPr>
              <a:t>Deliver valid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3794760"/>
            <a:ext cx="4526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EBDCC"/>
                </a:solidFill>
                <a:latin typeface="Aptos"/>
              </a:rPr>
              <a:t>No human analytics access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64024"/>
            <a:ext cx="10927080" cy="841248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910328"/>
            <a:ext cx="21031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Dubai analyst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0672" y="4910328"/>
            <a:ext cx="3383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3C9B8"/>
                </a:solidFill>
                <a:latin typeface="Aptos"/>
              </a:rPr>
              <a:t>Read Dubai rows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4910328"/>
            <a:ext cx="4526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EBDCC"/>
                </a:solidFill>
                <a:latin typeface="Aptos"/>
              </a:rPr>
              <a:t>No other emirates • no writes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925312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7B731"/>
                </a:solidFill>
                <a:latin typeface="Aptos"/>
              </a:rPr>
              <a:t>No downloaded service-account key exists anywhere in the design.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C9B8"/>
                </a:solidFill>
                <a:latin typeface="Aptos"/>
              </a:rPr>
              <a:t>BIGQUERY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D1 staged and enforced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29184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EBDCC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EBDCC"/>
                </a:solidFill>
                <a:latin typeface="Aptos"/>
              </a:rPr>
              <a:t>PRITAM RAHA  •  rahapritam32@gmail.com  •  JUNIOR CLOUD AND DEVOPS ENGINEER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17320"/>
            <a:ext cx="3474720" cy="452628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581912"/>
            <a:ext cx="296265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Integrity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039112"/>
            <a:ext cx="2962656" cy="373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Twenty-seven required or repeated fields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Unknown fields are never dropped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Table deletion protection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Ninety-six-hour time travel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417320"/>
            <a:ext cx="54864" cy="4526280"/>
          </a:xfrm>
          <a:prstGeom prst="rect">
            <a:avLst/>
          </a:prstGeom>
          <a:solidFill>
            <a:srgbClr val="3D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52544" y="1417320"/>
            <a:ext cx="3474720" cy="452628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581912"/>
            <a:ext cx="296265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039112"/>
            <a:ext cx="2962656" cy="373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Daily ingestion partition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Organisation and student clustering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Ninety-day staging retention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Regional managed service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2544" y="1417320"/>
            <a:ext cx="54864" cy="4526280"/>
          </a:xfrm>
          <a:prstGeom prst="rect">
            <a:avLst/>
          </a:prstGeom>
          <a:solidFill>
            <a:srgbClr val="23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83296" y="1417320"/>
            <a:ext cx="3474720" cy="452628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1581912"/>
            <a:ext cx="296265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Row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039112"/>
            <a:ext cx="2962656" cy="373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Pipeline policy: TRUE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Analytics policy: emirate = DUBAI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Dataset role still required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Filtered role is policy-managed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3296" y="1417320"/>
            <a:ext cx="54864" cy="452628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C9B8"/>
                </a:solidFill>
                <a:latin typeface="Aptos"/>
              </a:rPr>
              <a:t>SCHEMA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One mapping; three enforced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29184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EBDCC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EBDCC"/>
                </a:solidFill>
                <a:latin typeface="Aptos"/>
              </a:rPr>
              <a:t>PRITAM RAHA  •  rahapritam32@gmail.com  •  JUNIOR CLOUD AND DEVOPS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744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Aptos"/>
              </a:rPr>
              <a:t>23 source leaves</a:t>
            </a:r>
          </a:p>
        </p:txBody>
      </p:sp>
      <p:sp>
        <p:nvSpPr>
          <p:cNvPr id="7" name="Chevron 6"/>
          <p:cNvSpPr/>
          <p:nvPr/>
        </p:nvSpPr>
        <p:spPr>
          <a:xfrm>
            <a:off x="658368" y="2176272"/>
            <a:ext cx="2560320" cy="1417320"/>
          </a:xfrm>
          <a:prstGeom prst="chevron">
            <a:avLst/>
          </a:prstGeom>
          <a:solidFill>
            <a:srgbClr val="23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Serializer
Types • limits • choices</a:t>
            </a:r>
          </a:p>
        </p:txBody>
      </p:sp>
      <p:sp>
        <p:nvSpPr>
          <p:cNvPr id="8" name="Chevron 7"/>
          <p:cNvSpPr/>
          <p:nvPr/>
        </p:nvSpPr>
        <p:spPr>
          <a:xfrm>
            <a:off x="3429000" y="2176272"/>
            <a:ext cx="2560320" cy="1417320"/>
          </a:xfrm>
          <a:prstGeom prst="chevron">
            <a:avLst/>
          </a:prstGeom>
          <a:solidFill>
            <a:srgbClr val="3D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Canonical map
One unique destination</a:t>
            </a:r>
          </a:p>
        </p:txBody>
      </p:sp>
      <p:sp>
        <p:nvSpPr>
          <p:cNvPr id="9" name="Chevron 8"/>
          <p:cNvSpPr/>
          <p:nvPr/>
        </p:nvSpPr>
        <p:spPr>
          <a:xfrm>
            <a:off x="6199631" y="2176272"/>
            <a:ext cx="2560320" cy="1417320"/>
          </a:xfrm>
          <a:prstGeom prst="chevron">
            <a:avLst/>
          </a:prstGeom>
          <a:solidFill>
            <a:srgbClr val="3D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Pub/Sub
Apache Avro schema</a:t>
            </a:r>
          </a:p>
        </p:txBody>
      </p:sp>
      <p:sp>
        <p:nvSpPr>
          <p:cNvPr id="10" name="Chevron 9"/>
          <p:cNvSpPr/>
          <p:nvPr/>
        </p:nvSpPr>
        <p:spPr>
          <a:xfrm>
            <a:off x="8970264" y="2176272"/>
            <a:ext cx="2560320" cy="1417320"/>
          </a:xfrm>
          <a:prstGeom prst="chevron">
            <a:avLst/>
          </a:prstGeom>
          <a:solidFill>
            <a:srgbClr val="23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BigQuery
Type • mode • order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4279392"/>
            <a:ext cx="8321040" cy="100584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4425696"/>
            <a:ext cx="795527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+ 4 explicit system fields = 27 canonical fields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782312"/>
            <a:ext cx="795527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7B731"/>
                </a:solidFill>
                <a:latin typeface="Aptos"/>
              </a:rPr>
              <a:t>Mismatch → publish or build fails; no silent data loss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C9B8"/>
                </a:solidFill>
                <a:latin typeface="Aptos"/>
              </a:rPr>
              <a:t>DETERMINISTIC BUSINESS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Six decisions. Only Yes or 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29184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EBDCC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EBDCC"/>
                </a:solidFill>
                <a:latin typeface="Aptos"/>
              </a:rPr>
              <a:t>PRITAM RAHA  •  rahapritam32@gmail.com  •  JUNIOR CLOUD AND DEVOPS ENGINEER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71600"/>
            <a:ext cx="5303520" cy="114300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7" y="1536192"/>
            <a:ext cx="658368" cy="310896"/>
          </a:xfrm>
          <a:prstGeom prst="roundRect">
            <a:avLst/>
          </a:prstGeom>
          <a:solidFill>
            <a:srgbClr val="23C9B8"/>
          </a:solidFill>
          <a:ln>
            <a:solidFill>
              <a:srgbClr val="23C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828"/>
                </a:solidFill>
                <a:latin typeface="Aptos"/>
              </a:rPr>
              <a:t>RULE 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4208" y="1591056"/>
            <a:ext cx="3977639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Explicit processing consent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371600"/>
            <a:ext cx="5303520" cy="114300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1536192"/>
            <a:ext cx="658368" cy="310896"/>
          </a:xfrm>
          <a:prstGeom prst="roundRect">
            <a:avLst/>
          </a:prstGeom>
          <a:solidFill>
            <a:srgbClr val="23C9B8"/>
          </a:solidFill>
          <a:ln>
            <a:solidFill>
              <a:srgbClr val="23C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828"/>
                </a:solidFill>
                <a:latin typeface="Aptos"/>
              </a:rPr>
              <a:t>RULE 002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591056"/>
            <a:ext cx="3977639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Consent chronology ≤ 30 days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852928"/>
            <a:ext cx="5303520" cy="114300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3017520"/>
            <a:ext cx="658368" cy="310896"/>
          </a:xfrm>
          <a:prstGeom prst="roundRect">
            <a:avLst/>
          </a:prstGeom>
          <a:solidFill>
            <a:srgbClr val="23C9B8"/>
          </a:solidFill>
          <a:ln>
            <a:solidFill>
              <a:srgbClr val="23C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828"/>
                </a:solidFill>
                <a:latin typeface="Aptos"/>
              </a:rPr>
              <a:t>RULE 003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3072384"/>
            <a:ext cx="3977639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Age from 3 through 21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2852928"/>
            <a:ext cx="5303520" cy="114300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92240" y="3017520"/>
            <a:ext cx="658368" cy="310896"/>
          </a:xfrm>
          <a:prstGeom prst="roundRect">
            <a:avLst/>
          </a:prstGeom>
          <a:solidFill>
            <a:srgbClr val="23C9B8"/>
          </a:solidFill>
          <a:ln>
            <a:solidFill>
              <a:srgbClr val="23C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828"/>
                </a:solidFill>
                <a:latin typeface="Aptos"/>
              </a:rPr>
              <a:t>RULE 004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072384"/>
            <a:ext cx="3977639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Support decision is consistent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334256"/>
            <a:ext cx="5303520" cy="114300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7" y="4498848"/>
            <a:ext cx="658368" cy="310896"/>
          </a:xfrm>
          <a:prstGeom prst="roundRect">
            <a:avLst/>
          </a:prstGeom>
          <a:solidFill>
            <a:srgbClr val="23C9B8"/>
          </a:solidFill>
          <a:ln>
            <a:solidFill>
              <a:srgbClr val="23C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828"/>
                </a:solidFill>
                <a:latin typeface="Aptos"/>
              </a:rPr>
              <a:t>RULE 005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4553712"/>
            <a:ext cx="3977639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Diagnosis decision is consistent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4334256"/>
            <a:ext cx="5303520" cy="114300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4498848"/>
            <a:ext cx="658368" cy="310896"/>
          </a:xfrm>
          <a:prstGeom prst="roundRect">
            <a:avLst/>
          </a:prstGeom>
          <a:solidFill>
            <a:srgbClr val="23C9B8"/>
          </a:solidFill>
          <a:ln>
            <a:solidFill>
              <a:srgbClr val="23C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B1828"/>
                </a:solidFill>
                <a:latin typeface="Aptos"/>
              </a:rPr>
              <a:t>RULE 006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553712"/>
            <a:ext cx="3977639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Controlled lists are unique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879592"/>
            <a:ext cx="9966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7B731"/>
                </a:solidFill>
                <a:latin typeface="Aptos"/>
              </a:rPr>
              <a:t>ACCEPT = Rule 001 ∧ Rule 002 ∧ Rule 003 ∧ Rule 004 ∧ Rule 005 ∧ Rule 006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C9B8"/>
                </a:solidFill>
                <a:latin typeface="Aptos"/>
              </a:rPr>
              <a:t>DJANGO REST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Serializer removes human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29184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EBDCC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EBDCC"/>
                </a:solidFill>
                <a:latin typeface="Aptos"/>
              </a:rPr>
              <a:t>PRITAM RAHA  •  rahapritam32@gmail.com  •  JUNIOR CLOUD AND DEVOPS ENGINEER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17320"/>
            <a:ext cx="5257800" cy="452628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581912"/>
            <a:ext cx="474573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Field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039112"/>
            <a:ext cx="4745736" cy="373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Closed top-level and nested objects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Exact minimum and maximum lengths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Strict JSON booleans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Case-sensitive controlled choices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International phone and identifier patterns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417320"/>
            <a:ext cx="54864" cy="4526280"/>
          </a:xfrm>
          <a:prstGeom prst="rect">
            <a:avLst/>
          </a:prstGeom>
          <a:solidFill>
            <a:srgbClr val="23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44768" y="1417320"/>
            <a:ext cx="5413248" cy="452628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81912"/>
            <a:ext cx="490118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Cross-field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39112"/>
            <a:ext cx="4901183" cy="373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Submission freshness: 24 hours / 5-minute skew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Consent interval: zero through 30 days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Age evaluated on submission date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Support and diagnosis consistency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Database constraints preserve accepted invariants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1417320"/>
            <a:ext cx="54864" cy="4526280"/>
          </a:xfrm>
          <a:prstGeom prst="rect">
            <a:avLst/>
          </a:prstGeom>
          <a:solidFill>
            <a:srgbClr val="3D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C9B8"/>
                </a:solidFill>
                <a:latin typeface="Aptos"/>
              </a:rPr>
              <a:t>POKA-YOKE BUILD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A failure cannot reach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29184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EBDCC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EBDCC"/>
                </a:solidFill>
                <a:latin typeface="Aptos"/>
              </a:rPr>
              <a:t>PRITAM RAHA  •  rahapritam32@gmail.com  •  JUNIOR CLOUD AND DEVOPS ENGINEER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1901952" cy="1207008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0664" y="2029968"/>
            <a:ext cx="411480" cy="310896"/>
          </a:xfrm>
          <a:prstGeom prst="roundRect">
            <a:avLst/>
          </a:prstGeom>
          <a:solidFill>
            <a:srgbClr val="3D88FF"/>
          </a:solidFill>
          <a:ln>
            <a:solidFill>
              <a:srgbClr val="3D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441448"/>
            <a:ext cx="157276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Secret scan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874519"/>
            <a:ext cx="1901952" cy="1207008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26664" y="2029968"/>
            <a:ext cx="411480" cy="310896"/>
          </a:xfrm>
          <a:prstGeom prst="roundRect">
            <a:avLst/>
          </a:prstGeom>
          <a:solidFill>
            <a:srgbClr val="3D88FF"/>
          </a:solidFill>
          <a:ln>
            <a:solidFill>
              <a:srgbClr val="3D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6664" y="2441448"/>
            <a:ext cx="157276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Dependencies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1874519"/>
            <a:ext cx="1901952" cy="1207008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12664" y="2029968"/>
            <a:ext cx="411480" cy="310896"/>
          </a:xfrm>
          <a:prstGeom prst="roundRect">
            <a:avLst/>
          </a:prstGeom>
          <a:solidFill>
            <a:srgbClr val="3D88FF"/>
          </a:solidFill>
          <a:ln>
            <a:solidFill>
              <a:srgbClr val="3D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2664" y="2441448"/>
            <a:ext cx="157276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Format + lint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874519"/>
            <a:ext cx="1901952" cy="1207008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98664" y="2029968"/>
            <a:ext cx="411480" cy="310896"/>
          </a:xfrm>
          <a:prstGeom prst="roundRect">
            <a:avLst/>
          </a:prstGeom>
          <a:solidFill>
            <a:srgbClr val="3D88FF"/>
          </a:solidFill>
          <a:ln>
            <a:solidFill>
              <a:srgbClr val="3D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98664" y="2441448"/>
            <a:ext cx="157276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Tests + contracts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60" y="1874519"/>
            <a:ext cx="1901952" cy="1207008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884664" y="2029968"/>
            <a:ext cx="411480" cy="310896"/>
          </a:xfrm>
          <a:prstGeom prst="roundRect">
            <a:avLst/>
          </a:prstGeom>
          <a:solidFill>
            <a:srgbClr val="3D88FF"/>
          </a:solidFill>
          <a:ln>
            <a:solidFill>
              <a:srgbClr val="3D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84664" y="2441448"/>
            <a:ext cx="157276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Terraform + 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493008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F5D5D"/>
                </a:solidFill>
                <a:latin typeface="Aptos"/>
              </a:rPr>
              <a:t>ANY NON-ZERO EXIT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493008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3C9B8"/>
                </a:solidFill>
                <a:latin typeface="Aptos"/>
              </a:rPr>
              <a:t>ALL GATES PASS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4160520"/>
            <a:ext cx="4023360" cy="1051560"/>
          </a:xfrm>
          <a:prstGeom prst="roundRect">
            <a:avLst/>
          </a:prstGeom>
          <a:solidFill>
            <a:srgbClr val="43232B"/>
          </a:solidFill>
          <a:ln>
            <a:solidFill>
              <a:srgbClr val="EF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5880" y="4325112"/>
            <a:ext cx="3657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QUARANTINE REPORT
Release job is structurally skipped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95160" y="4160520"/>
            <a:ext cx="4023360" cy="1051560"/>
          </a:xfrm>
          <a:prstGeom prst="roundRect">
            <a:avLst/>
          </a:prstGeom>
          <a:solidFill>
            <a:srgbClr val="13413E"/>
          </a:solidFill>
          <a:ln>
            <a:solidFill>
              <a:srgbClr val="23C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4325112"/>
            <a:ext cx="3657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RELEASE AUTHORISATION
Immutable commit recorded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C9B8"/>
                </a:solidFill>
                <a:latin typeface="Aptos"/>
              </a:rPr>
              <a:t>FAIL-CLOSED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Negative path is executable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29184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EBDCC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EBDCC"/>
                </a:solidFill>
                <a:latin typeface="Aptos"/>
              </a:rPr>
              <a:t>PRITAM RAHA  •  rahapritam32@gmail.com  •  JUNIOR CLOUD AND DEVOPS ENGINEER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7086600" cy="4526280"/>
          </a:xfrm>
          <a:prstGeom prst="roundRect">
            <a:avLst/>
          </a:prstGeom>
          <a:solidFill>
            <a:srgbClr val="08111D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64208"/>
            <a:ext cx="6400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7B731"/>
                </a:solidFill>
                <a:latin typeface="Aptos"/>
              </a:rPr>
              <a:t>$ make demo-fail-closed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84832"/>
            <a:ext cx="6400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EBDCC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05456"/>
            <a:ext cx="6400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EBDCC"/>
                </a:solidFill>
                <a:latin typeface="Aptos"/>
              </a:rPr>
              <a:t>Temporary insecure file created outside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26080"/>
            <a:ext cx="6400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EBDCC"/>
                </a:solidFill>
                <a:latin typeface="Aptos"/>
              </a:rPr>
              <a:t>Credential-shaped literal detected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46704"/>
            <a:ext cx="6400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EBDCC"/>
                </a:solidFill>
                <a:latin typeface="Aptos"/>
              </a:rPr>
              <a:t>Finding count: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67328"/>
            <a:ext cx="6400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EBDCC"/>
                </a:solidFill>
                <a:latin typeface="Aptos"/>
              </a:rPr>
              <a:t>Release authorisation: NOT EMITTED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87952"/>
            <a:ext cx="6400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EBDCC"/>
                </a:solidFill>
                <a:latin typeface="Aptos"/>
              </a:rPr>
              <a:t>Temporary file removed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608576"/>
            <a:ext cx="6400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EBDCC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029200"/>
            <a:ext cx="6400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3C9B8"/>
                </a:solidFill>
                <a:latin typeface="Aptos"/>
              </a:rPr>
              <a:t>RESULT: PASSED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389888"/>
            <a:ext cx="3529584" cy="452628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3" y="1554480"/>
            <a:ext cx="3017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Evidence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3" y="2011680"/>
            <a:ext cx="3017520" cy="373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No real credential used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No insecure fixture committed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Finding evidence is redacted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Test fails if detector misses input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Quarantine path is failure-only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28431" y="1389888"/>
            <a:ext cx="54864" cy="4526280"/>
          </a:xfrm>
          <a:prstGeom prst="rect">
            <a:avLst/>
          </a:prstGeom>
          <a:solidFill>
            <a:srgbClr val="23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C9B8"/>
                </a:solidFill>
                <a:latin typeface="Aptos"/>
              </a:rPr>
              <a:t>OBJECTIVE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Validation result: ready to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29184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EBDCC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EBDCC"/>
                </a:solidFill>
                <a:latin typeface="Aptos"/>
              </a:rPr>
              <a:t>PRITAM RAHA  •  rahapritam32@gmail.com  •  JUNIOR CLOUD AND DEVOPS ENGINEER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44752"/>
            <a:ext cx="2487168" cy="150876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18488"/>
            <a:ext cx="221284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23C9B8"/>
                </a:solidFill>
                <a:latin typeface="Aptos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22128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AEBDCC"/>
                </a:solidFill>
                <a:latin typeface="Aptos"/>
              </a:rPr>
              <a:t>automated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444752"/>
            <a:ext cx="2487168" cy="150876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618488"/>
            <a:ext cx="221284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3D88FF"/>
                </a:solidFill>
                <a:latin typeface="Aptos"/>
              </a:rPr>
              <a:t>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240280"/>
            <a:ext cx="22128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AEBDCC"/>
                </a:solidFill>
                <a:latin typeface="Aptos"/>
              </a:rPr>
              <a:t>aligned fields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444752"/>
            <a:ext cx="2487168" cy="150876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618488"/>
            <a:ext cx="221284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23C9B8"/>
                </a:solidFill>
                <a:latin typeface="Aptos"/>
              </a:rPr>
              <a:t>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240280"/>
            <a:ext cx="22128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AEBDCC"/>
                </a:solidFill>
                <a:latin typeface="Aptos"/>
              </a:rPr>
              <a:t>policy checks passed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89136" y="1444752"/>
            <a:ext cx="2487168" cy="150876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26296" y="1618488"/>
            <a:ext cx="221284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F7B731"/>
                </a:solidFill>
                <a:latin typeface="Aptos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6296" y="2240280"/>
            <a:ext cx="221284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AEBDCC"/>
                </a:solidFill>
                <a:latin typeface="Aptos"/>
              </a:rPr>
              <a:t>policy failures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37560"/>
            <a:ext cx="5303520" cy="224028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502152"/>
            <a:ext cx="479145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Validated locally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959352"/>
            <a:ext cx="4791456" cy="1453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Django and security tests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Schema comparison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Terraform plan test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Checkov policy scan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337560"/>
            <a:ext cx="54864" cy="2240280"/>
          </a:xfrm>
          <a:prstGeom prst="rect">
            <a:avLst/>
          </a:prstGeom>
          <a:solidFill>
            <a:srgbClr val="3D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36208" y="3337560"/>
            <a:ext cx="5303520" cy="224028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502152"/>
            <a:ext cx="479145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Deliberately not executed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959352"/>
            <a:ext cx="4791456" cy="1453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No external project mutation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No unapproved infrastructure apply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No service-account key creation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No production data used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6208" y="3337560"/>
            <a:ext cx="54864" cy="224028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961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C9B8"/>
                </a:solidFill>
                <a:latin typeface="Aptos"/>
              </a:rPr>
              <a:t>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Operate with discipline, improve with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29184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AEBDCC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EBDCC"/>
                </a:solidFill>
                <a:latin typeface="Aptos"/>
              </a:rPr>
              <a:t>PRITAM RAHA  •  rahapritam32@gmail.com  •  JUNIOR CLOUD AND DEVOPS ENGINEER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429768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81912"/>
            <a:ext cx="291693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Before deploy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39112"/>
            <a:ext cx="2916936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Create protected remote state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Review the exact plan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Confirm data residency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Approve with two-person review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54864" cy="4297680"/>
          </a:xfrm>
          <a:prstGeom prst="rect">
            <a:avLst/>
          </a:prstGeom>
          <a:solidFill>
            <a:srgbClr val="3D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61688" y="1417320"/>
            <a:ext cx="3429000" cy="429768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581912"/>
            <a:ext cx="291693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After 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39112"/>
            <a:ext cx="2916936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Test prefix denial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Test row filtering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Publish valid and invalid events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Verify zero drift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1688" y="1417320"/>
            <a:ext cx="54864" cy="4297680"/>
          </a:xfrm>
          <a:prstGeom prst="rect">
            <a:avLst/>
          </a:prstGeom>
          <a:solidFill>
            <a:srgbClr val="23C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83296" y="1417320"/>
            <a:ext cx="3456432" cy="4297680"/>
          </a:xfrm>
          <a:prstGeom prst="roundRect">
            <a:avLst/>
          </a:prstGeom>
          <a:solidFill>
            <a:srgbClr val="162A40"/>
          </a:solidFill>
          <a:ln>
            <a:solidFill>
              <a:srgbClr val="2A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1581912"/>
            <a:ext cx="294436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Next improvement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039112"/>
            <a:ext cx="2944368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Federated deployment identity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Organisation policy constraints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Regional recovery rehearsal</a:t>
            </a:r>
          </a:p>
          <a:p>
            <a:pPr>
              <a:spcAft>
                <a:spcPts val="900"/>
              </a:spcAft>
              <a:defRPr sz="1300">
                <a:solidFill>
                  <a:srgbClr val="AEBDCC"/>
                </a:solidFill>
                <a:latin typeface="Aptos"/>
              </a:defRPr>
            </a:pPr>
            <a:r>
              <a:t>•  Schema compatibility registry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3296" y="1417320"/>
            <a:ext cx="54864" cy="4297680"/>
          </a:xfrm>
          <a:prstGeom prst="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925312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Code, runbook, tests and wrapped schema workbook are included with this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Student Onboarding Deployment and Automation Blueprint</dc:title>
  <dc:subject>HabotConnect Junior Cloud and DevOps Engineer hiring project</dc:subject>
  <dc:creator>Pritam Raha &lt;rahapritam32@gmail.com&gt;</dc:creator>
  <cp:keywords>Google Cloud, Terraform, Django REST Framework, fail-closed, BigQuery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